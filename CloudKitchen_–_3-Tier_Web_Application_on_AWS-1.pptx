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58" r:id="rId5"/>
    <p:sldId id="259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878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FAD6-9F3E-B1D2-2C52-F79A7908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4A08C-EB75-426F-293F-717393E30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B66D5-98ED-CAD9-C3EB-C3CFB478B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DC7C5-2F62-BD96-1EEB-2E61EF065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8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524939"/>
            <a:ext cx="714375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200" b="1" kern="0" spc="-2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CLOUDKITCHEN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1115318" y="2716941"/>
            <a:ext cx="6913364" cy="53756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Secure, Scalable 3-Tier Architecture on AWS</a:t>
            </a:r>
            <a:endParaRPr lang="en-US" sz="2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3792857"/>
            <a:ext cx="4286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172677"/>
            <a:ext cx="32004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35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I
BUILT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1296256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00525" y="1251607"/>
            <a:ext cx="43719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3-Tier Stack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200525" y="1551645"/>
            <a:ext cx="43719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frontend, Spring Boot backend, and PostgreSQL database for full-stack functionality.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2170640"/>
            <a:ext cx="2857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00525" y="2125991"/>
            <a:ext cx="43719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Fully Automated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200525" y="2426029"/>
            <a:ext cx="43719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Entire infrastructure and application deployment managed via modular Bash scripts.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1900" y="3045023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00525" y="3000375"/>
            <a:ext cx="43719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Highly Resilient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200525" y="3300413"/>
            <a:ext cx="43719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for high availability with automated failover and self-healing capabilities.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900" y="3919407"/>
            <a:ext cx="28575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00525" y="3874759"/>
            <a:ext cx="43719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Native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200525" y="4174796"/>
            <a:ext cx="43719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Leveraging core AWS services for enterprise-grade performance and security.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34941"/>
            <a:ext cx="8572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APPLICATION TIERS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1492179"/>
            <a:ext cx="857250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5F5F5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Modular Architecture for Scale and Security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" y="2008315"/>
            <a:ext cx="2400300" cy="38397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 TIER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71500" y="2449441"/>
            <a:ext cx="24003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React + Nginx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79865"/>
            <a:ext cx="100013" cy="1000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7238" y="2944146"/>
            <a:ext cx="148411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Hosted in Public Subnets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45607"/>
            <a:ext cx="100013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7238" y="3209888"/>
            <a:ext cx="114657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Serves static assets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11348"/>
            <a:ext cx="100013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7238" y="3475630"/>
            <a:ext cx="127694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Reverse proxy for API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3371850" y="2008315"/>
            <a:ext cx="2400300" cy="38397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APP TIER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3371850" y="2449441"/>
            <a:ext cx="24003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Spring Boot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2979865"/>
            <a:ext cx="100013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557588" y="2944146"/>
            <a:ext cx="96083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 17 Runtime</a:t>
            </a:r>
            <a:endParaRPr lang="en-US" sz="9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3245607"/>
            <a:ext cx="100013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557588" y="3209888"/>
            <a:ext cx="141624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Subnet Isolation</a:t>
            </a:r>
            <a:endParaRPr lang="en-US" sz="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850" y="3511348"/>
            <a:ext cx="100013" cy="1000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557588" y="3475630"/>
            <a:ext cx="130373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Logic Engine</a:t>
            </a:r>
            <a:endParaRPr lang="en-US" sz="950" dirty="0"/>
          </a:p>
        </p:txBody>
      </p:sp>
      <p:sp>
        <p:nvSpPr>
          <p:cNvPr id="21" name="Text 12"/>
          <p:cNvSpPr/>
          <p:nvPr/>
        </p:nvSpPr>
        <p:spPr>
          <a:xfrm>
            <a:off x="6172200" y="2008315"/>
            <a:ext cx="2400300" cy="38397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DB TIER</a:t>
            </a:r>
            <a:endParaRPr lang="en-US" sz="1800" dirty="0"/>
          </a:p>
        </p:txBody>
      </p:sp>
      <p:sp>
        <p:nvSpPr>
          <p:cNvPr id="22" name="Text 13"/>
          <p:cNvSpPr/>
          <p:nvPr/>
        </p:nvSpPr>
        <p:spPr>
          <a:xfrm>
            <a:off x="6172200" y="2449441"/>
            <a:ext cx="24003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PostgreSQL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79865"/>
            <a:ext cx="100013" cy="1000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357938" y="2944146"/>
            <a:ext cx="12858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EC2 Hosted Database</a:t>
            </a:r>
            <a:endParaRPr lang="en-US" sz="9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245607"/>
            <a:ext cx="100013" cy="100013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357938" y="3209888"/>
            <a:ext cx="128051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Private Subnets</a:t>
            </a:r>
            <a:endParaRPr lang="en-US" sz="9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511348"/>
            <a:ext cx="100013" cy="100013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357938" y="3475630"/>
            <a:ext cx="108763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Persistent Storage</a:t>
            </a:r>
            <a:endParaRPr lang="en-US" sz="9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9" y="4630487"/>
            <a:ext cx="178594" cy="142875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757238" y="4630487"/>
            <a:ext cx="353615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3B3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All services managed and auto-started via systemd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34941"/>
            <a:ext cx="8572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INFRASTRUCTURE FOUNDATION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1492179"/>
            <a:ext cx="857250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5F5F5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Networking Core: VPC &amp; Subnets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" y="1965452"/>
            <a:ext cx="259078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5F5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571500" y="2536952"/>
            <a:ext cx="259078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B3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Single VPC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788769"/>
            <a:ext cx="25907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range 10.0.0.0/16 providing a massive isolated workspace.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76581" y="1965452"/>
            <a:ext cx="259080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5F5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3276581" y="2536952"/>
            <a:ext cx="259080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B3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Availability Zones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76581" y="2788769"/>
            <a:ext cx="259080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Multi-AZ deployment for high availability and fault tolerance.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81691" y="1965452"/>
            <a:ext cx="259078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5F5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</a:t>
            </a:r>
            <a:endParaRPr lang="en-US" sz="3750" dirty="0"/>
          </a:p>
        </p:txBody>
      </p:sp>
      <p:sp>
        <p:nvSpPr>
          <p:cNvPr id="12" name="Text 9"/>
          <p:cNvSpPr/>
          <p:nvPr/>
        </p:nvSpPr>
        <p:spPr>
          <a:xfrm>
            <a:off x="5981691" y="2536952"/>
            <a:ext cx="259078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B3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Subnets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1691" y="2788769"/>
            <a:ext cx="25907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Tiered isolation: 2 Public, 2 Private App, and 2 Private DB subnets.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09592"/>
            <a:ext cx="157163" cy="1571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5819" y="3771458"/>
            <a:ext cx="64097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 Gateways + Internet Gateway ensure secure outbound traffic for private instances.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9130"/>
            <a:ext cx="419804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FLOW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717473" y="271112"/>
            <a:ext cx="326274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5F5F5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End-to-End Traffic Lifecycle</a:t>
            </a: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F30428-D3FF-22C1-3292-E4C0D77A1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79" y="632639"/>
            <a:ext cx="8033174" cy="4381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9620B6-F8CE-4BAD-4EE3-4BCCB42BE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1157" y="3323511"/>
            <a:ext cx="378618" cy="37861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BC21B3-10F1-AB6B-155C-E90859271542}"/>
              </a:ext>
            </a:extLst>
          </p:cNvPr>
          <p:cNvCxnSpPr>
            <a:cxnSpLocks/>
          </p:cNvCxnSpPr>
          <p:nvPr/>
        </p:nvCxnSpPr>
        <p:spPr>
          <a:xfrm flipV="1">
            <a:off x="6348845" y="3512820"/>
            <a:ext cx="1522312" cy="624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34941"/>
            <a:ext cx="8572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MONITORING &amp; ALERTS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1492179"/>
            <a:ext cx="857250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5F5F5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 Health Management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94052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7275" y="2226199"/>
            <a:ext cx="14859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CloudWatch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01283"/>
            <a:ext cx="112514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1170" y="2858421"/>
            <a:ext cx="3566517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ALB 5XX Errors:</a:t>
            </a:r>
            <a:r>
              <a:rPr lang="en-US" sz="10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Monitors HTTP 500-series errors at the load balancer level.</a:t>
            </a:r>
            <a:endParaRPr lang="en-US" sz="1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78141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7244" y="3435279"/>
            <a:ext cx="3550444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Threshold:</a:t>
            </a:r>
            <a:r>
              <a:rPr lang="en-US" sz="10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Alarm triggers if errors persist for more than 5 minutes.</a:t>
            </a:r>
            <a:endParaRPr lang="en-US" sz="1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194052"/>
            <a:ext cx="342900" cy="3429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272088" y="2226199"/>
            <a:ext cx="1526977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Amazon SNS</a:t>
            </a:r>
            <a:endParaRPr lang="en-US" sz="16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901283"/>
            <a:ext cx="128588" cy="1285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022056" y="2858421"/>
            <a:ext cx="3550444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Instant Notifications:</a:t>
            </a:r>
            <a:r>
              <a:rPr lang="en-US" sz="10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Sends real-time email alerts to the administration team.</a:t>
            </a:r>
            <a:endParaRPr lang="en-US" sz="10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478141"/>
            <a:ext cx="144661" cy="12858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038130" y="3435279"/>
            <a:ext cx="3534370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Health Status:</a:t>
            </a:r>
            <a:r>
              <a:rPr lang="en-US" sz="10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Immediate visibility into tier-level unhealthiness or failures.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D1C1-8C16-6592-565D-F9BD741F3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C2EFB77-F9D0-7FD9-4210-BF5C963ED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4798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A15E2AA-CD99-FCF7-FD52-203735FCF82A}"/>
              </a:ext>
            </a:extLst>
          </p:cNvPr>
          <p:cNvSpPr/>
          <p:nvPr/>
        </p:nvSpPr>
        <p:spPr>
          <a:xfrm>
            <a:off x="571500" y="734941"/>
            <a:ext cx="85725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Automated Database Backup – s3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1DEF449-F5E2-6385-1FE7-56D525F14DD7}"/>
              </a:ext>
            </a:extLst>
          </p:cNvPr>
          <p:cNvSpPr/>
          <p:nvPr/>
        </p:nvSpPr>
        <p:spPr>
          <a:xfrm>
            <a:off x="500063" y="1776367"/>
            <a:ext cx="8572500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E7C8232-8653-3AA9-A1F9-88E146D2C8A1}"/>
              </a:ext>
            </a:extLst>
          </p:cNvPr>
          <p:cNvSpPr/>
          <p:nvPr/>
        </p:nvSpPr>
        <p:spPr>
          <a:xfrm>
            <a:off x="1057275" y="2226199"/>
            <a:ext cx="14859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1523371E-AD98-E273-F7B0-79E03AAB9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80" y="2446195"/>
            <a:ext cx="176808" cy="202067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D4998EEA-ADAF-9CA3-84A9-7A08C98EEE52}"/>
              </a:ext>
            </a:extLst>
          </p:cNvPr>
          <p:cNvSpPr/>
          <p:nvPr/>
        </p:nvSpPr>
        <p:spPr>
          <a:xfrm>
            <a:off x="807244" y="2312040"/>
            <a:ext cx="3566517" cy="499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Cron Job Triggers </a:t>
            </a:r>
            <a:r>
              <a:rPr lang="en-US" sz="1400" b="1" dirty="0" err="1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ScriptExecutes</a:t>
            </a: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backup.sh daily as root.</a:t>
            </a:r>
            <a:r>
              <a:rPr lang="en-US" sz="140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049D15B0-AEBD-2197-C37F-6B316597D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3511397"/>
            <a:ext cx="197576" cy="197576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7AF38018-B92E-C73D-8760-B860090DE796}"/>
              </a:ext>
            </a:extLst>
          </p:cNvPr>
          <p:cNvSpPr/>
          <p:nvPr/>
        </p:nvSpPr>
        <p:spPr>
          <a:xfrm>
            <a:off x="807244" y="3435279"/>
            <a:ext cx="3550444" cy="49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AWS CLI Uploads </a:t>
            </a:r>
            <a:r>
              <a:rPr lang="en-US" sz="1400" b="1" dirty="0" err="1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FileStreams</a:t>
            </a: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the .</a:t>
            </a:r>
            <a:r>
              <a:rPr lang="en-US" sz="1400" b="1" dirty="0" err="1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</a:t>
            </a: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dump to S3</a:t>
            </a:r>
            <a:r>
              <a:rPr lang="en-US" sz="10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.</a:t>
            </a:r>
            <a:endParaRPr lang="en-US" sz="1000" dirty="0"/>
          </a:p>
        </p:txBody>
      </p:sp>
      <p:pic>
        <p:nvPicPr>
          <p:cNvPr id="13" name="Image 5" descr="preencoded.png">
            <a:extLst>
              <a:ext uri="{FF2B5EF4-FFF2-40B4-BE49-F238E27FC236}">
                <a16:creationId xmlns:a16="http://schemas.microsoft.com/office/drawing/2014/main" id="{8A6D184F-9352-AFBF-4524-3AF7D9CC1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396" y="2485855"/>
            <a:ext cx="197578" cy="197578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79BB0C18-2BD2-2772-CD1C-D156F84F6706}"/>
              </a:ext>
            </a:extLst>
          </p:cNvPr>
          <p:cNvSpPr/>
          <p:nvPr/>
        </p:nvSpPr>
        <p:spPr>
          <a:xfrm>
            <a:off x="5070276" y="2226199"/>
            <a:ext cx="3550444" cy="757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PostgreSQL Generates </a:t>
            </a:r>
            <a:r>
              <a:rPr lang="en-US" sz="1400" b="1" dirty="0" err="1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Dumppg_dump</a:t>
            </a: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extracts data to local /</a:t>
            </a:r>
            <a:r>
              <a:rPr lang="en-US" sz="1400" b="1" dirty="0" err="1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tmp</a:t>
            </a: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/.</a:t>
            </a:r>
            <a:endParaRPr lang="en-US" sz="1400" dirty="0"/>
          </a:p>
        </p:txBody>
      </p:sp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088A496E-EBCB-3EDB-A9A0-6F6A2D7DFA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478140"/>
            <a:ext cx="222273" cy="197577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6D9E72F4-D9ED-7403-33CC-A94B76B3A2B9}"/>
              </a:ext>
            </a:extLst>
          </p:cNvPr>
          <p:cNvSpPr/>
          <p:nvPr/>
        </p:nvSpPr>
        <p:spPr>
          <a:xfrm>
            <a:off x="5086350" y="3416523"/>
            <a:ext cx="3534370" cy="499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IAM Policy Secures </a:t>
            </a:r>
            <a:r>
              <a:rPr lang="en-US" sz="1400" b="1" dirty="0" err="1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ProcessGrants</a:t>
            </a:r>
            <a:r>
              <a:rPr lang="en-US" sz="14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explicit s3:PutObject permission.</a:t>
            </a:r>
            <a:r>
              <a:rPr lang="en-US" sz="140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10205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34941"/>
            <a:ext cx="8572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LOAD BALANCING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1492179"/>
            <a:ext cx="857250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5F5F5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Intelligent Path-Based Traffic Routing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063679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8675" y="2063679"/>
            <a:ext cx="154662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External ALB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8625" y="2576243"/>
            <a:ext cx="4036219" cy="494705"/>
          </a:xfrm>
          <a:prstGeom prst="rect">
            <a:avLst/>
          </a:prstGeom>
          <a:solidFill>
            <a:srgbClr val="FF3B3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428625" y="2576243"/>
            <a:ext cx="28575" cy="494705"/>
          </a:xfrm>
          <a:prstGeom prst="rect">
            <a:avLst/>
          </a:prstGeom>
          <a:solidFill>
            <a:srgbClr val="FF3B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42925" y="2661968"/>
            <a:ext cx="392191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3B3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/*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2925" y="2895926"/>
            <a:ext cx="392191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Routes to Web Tier (React/Nginx)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28625" y="3142385"/>
            <a:ext cx="4036219" cy="494705"/>
          </a:xfrm>
          <a:prstGeom prst="rect">
            <a:avLst/>
          </a:prstGeom>
          <a:solidFill>
            <a:srgbClr val="FF3B3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28625" y="3142385"/>
            <a:ext cx="28575" cy="494705"/>
          </a:xfrm>
          <a:prstGeom prst="rect">
            <a:avLst/>
          </a:prstGeom>
          <a:solidFill>
            <a:srgbClr val="FF3B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42925" y="3228110"/>
            <a:ext cx="392191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3B3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/api/*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2925" y="3462068"/>
            <a:ext cx="392191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Forwards to Internal ALB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2063679"/>
            <a:ext cx="357188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50644" y="2063679"/>
            <a:ext cx="149125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Internal ALB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679156" y="2576243"/>
            <a:ext cx="4036219" cy="494705"/>
          </a:xfrm>
          <a:prstGeom prst="rect">
            <a:avLst/>
          </a:prstGeom>
          <a:solidFill>
            <a:srgbClr val="FF3B3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4679156" y="2576243"/>
            <a:ext cx="28575" cy="494705"/>
          </a:xfrm>
          <a:prstGeom prst="rect">
            <a:avLst/>
          </a:prstGeom>
          <a:solidFill>
            <a:srgbClr val="FF3B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4793456" y="2661968"/>
            <a:ext cx="392191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3B3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/api/*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93456" y="2895926"/>
            <a:ext cx="392191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Distributes to App Tier (Spring Boot)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79156" y="3142385"/>
            <a:ext cx="4036219" cy="494705"/>
          </a:xfrm>
          <a:prstGeom prst="rect">
            <a:avLst/>
          </a:prstGeom>
          <a:solidFill>
            <a:srgbClr val="232F3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4679156" y="3142385"/>
            <a:ext cx="28575" cy="494705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4793456" y="3228110"/>
            <a:ext cx="392191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Private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93456" y="3462068"/>
            <a:ext cx="392191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direct internet access for backend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0" y="3851402"/>
            <a:ext cx="914400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0" y="3851402"/>
            <a:ext cx="9144000" cy="7144"/>
          </a:xfrm>
          <a:prstGeom prst="rect">
            <a:avLst/>
          </a:prstGeom>
          <a:solidFill>
            <a:srgbClr val="FEFE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956772"/>
            <a:ext cx="192881" cy="1714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7231" y="3942485"/>
            <a:ext cx="4950619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5F5F5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Continuous health checks ensure traffic only reaches healthy instances.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3643313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686175" y="57150"/>
            <a:ext cx="14288" cy="5143500"/>
          </a:xfrm>
          <a:prstGeom prst="rect">
            <a:avLst/>
          </a:prstGeom>
          <a:solidFill>
            <a:srgbClr val="FFC4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85775" y="485775"/>
            <a:ext cx="3200400" cy="1620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375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
SCALING &amp;
RESILIENCE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485775" y="2191652"/>
            <a:ext cx="32004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5F5F5">
                    <a:alpha val="6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Self-Healing Infrastructure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075" y="382191"/>
            <a:ext cx="257175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71975" y="371475"/>
            <a:ext cx="232529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 Scaling Group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029075" y="792956"/>
            <a:ext cx="4829175" cy="485775"/>
          </a:xfrm>
          <a:prstGeom prst="rect">
            <a:avLst/>
          </a:prstGeom>
          <a:noFill/>
          <a:ln/>
        </p:spPr>
        <p:txBody>
          <a:bodyPr wrap="square" lIns="374142" tIns="34036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Maintains system health by automatically detecting and replacing failed instances to ensure constant availability.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343400" y="1478756"/>
            <a:ext cx="2143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343400" y="1791295"/>
            <a:ext cx="214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dirty="0">
                <a:solidFill>
                  <a:srgbClr val="F5F5F5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4700588" y="1478756"/>
            <a:ext cx="45362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0588" y="1791295"/>
            <a:ext cx="4536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dirty="0">
                <a:solidFill>
                  <a:srgbClr val="F5F5F5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DESIRED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297091" y="1478756"/>
            <a:ext cx="23038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297091" y="1791295"/>
            <a:ext cx="2303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dirty="0">
                <a:solidFill>
                  <a:srgbClr val="F5F5F5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</a:t>
            </a:r>
            <a:endParaRPr lang="en-US" sz="7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075" y="2052042"/>
            <a:ext cx="192881" cy="2571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07681" y="2041327"/>
            <a:ext cx="219670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Launch Templates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029075" y="2462808"/>
            <a:ext cx="4829175" cy="485775"/>
          </a:xfrm>
          <a:prstGeom prst="rect">
            <a:avLst/>
          </a:prstGeom>
          <a:noFill/>
          <a:ln/>
        </p:spPr>
        <p:txBody>
          <a:bodyPr wrap="square" lIns="374142" tIns="34036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custom AMIs with baked-in configurations for rapid, consistent instance provisioning during recovery.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075" y="3216473"/>
            <a:ext cx="289322" cy="257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04122" y="3205758"/>
            <a:ext cx="2252067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Automatic Healing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029075" y="3627239"/>
            <a:ext cx="4829175" cy="485775"/>
          </a:xfrm>
          <a:prstGeom prst="rect">
            <a:avLst/>
          </a:prstGeom>
          <a:noFill/>
          <a:ln/>
        </p:spPr>
        <p:txBody>
          <a:bodyPr wrap="square" lIns="374142" tIns="34036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5F5F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an instance fails health checks, the ASG terminates it and launches a fresh replacement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3221"/>
            <a:ext cx="9144000" cy="5302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86918" y="571500"/>
            <a:ext cx="4170164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35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GOLDEN AMI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486918" y="1314450"/>
            <a:ext cx="4170164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5F5F5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Blueprint for Rapid Recovery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785937"/>
            <a:ext cx="857250" cy="8572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4" y="3159403"/>
            <a:ext cx="200025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43025" y="3150473"/>
            <a:ext cx="30861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Rapid Deployment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343025" y="3471862"/>
            <a:ext cx="3086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re-launching the entire stack in minutes by eliminating manual setup steps.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512" y="3172235"/>
            <a:ext cx="200025" cy="2000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57775" y="3180186"/>
            <a:ext cx="30861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5057775" y="3481758"/>
            <a:ext cx="3086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every instance is launched with identical, pre-validated configurations and code.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527" y="4071937"/>
            <a:ext cx="200025" cy="2000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43025" y="4073723"/>
            <a:ext cx="30861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Disaster Recovery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1343025" y="4429203"/>
            <a:ext cx="3086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 reliable fallback point for quick restoration after any system failure.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7966" y="4064317"/>
            <a:ext cx="250031" cy="2000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57775" y="4060308"/>
            <a:ext cx="30360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Baked-in Config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5057775" y="4421676"/>
            <a:ext cx="30360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Contains fully installed services and the latest stable code ready for immediate use.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34941"/>
            <a:ext cx="87153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SECURITY &amp; IAM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527897"/>
            <a:ext cx="25003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381" y="1506466"/>
            <a:ext cx="227885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3B3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Identity Management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28625" y="2020816"/>
            <a:ext cx="40005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Least Privilege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28625" y="2269061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IAM roles strictly limit access to specific AWS resources like S3 and CloudWatch.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28625" y="2757683"/>
            <a:ext cx="40005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Hardcoded Keys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8625" y="3005928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Instances use temporary credentials via IAM Instance Profiles for enhanced security.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527897"/>
            <a:ext cx="150019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50619" y="1506466"/>
            <a:ext cx="182522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3B3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Layered Firewalls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714875" y="2020816"/>
            <a:ext cx="40005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Groups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14875" y="2269061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Stateful traffic filtering at the instance level. No public IPs for backend tiers.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056" y="2945206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78288" y="3202381"/>
            <a:ext cx="48756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 SG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9484" y="3066650"/>
            <a:ext cx="98227" cy="157163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113" y="2945206"/>
            <a:ext cx="200025" cy="20002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91883" y="3202381"/>
            <a:ext cx="4464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 SG</a:t>
            </a:r>
            <a:endParaRPr lang="en-US" sz="8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2540" y="3066650"/>
            <a:ext cx="98227" cy="157163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0670" y="2945206"/>
            <a:ext cx="175022" cy="2000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8120658" y="3202381"/>
            <a:ext cx="3750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DB SG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05520" y="571500"/>
            <a:ext cx="6532959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350" b="1" dirty="0">
                <a:solidFill>
                  <a:srgbClr val="FF3B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THIS MATTERS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1305520" y="1314450"/>
            <a:ext cx="653295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5F5F5">
                    <a:alpha val="6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Strategic Advantage of CloudKitchen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2221706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1619" y="2185988"/>
            <a:ext cx="290750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True Isolation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521619" y="2536031"/>
            <a:ext cx="29075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3-tier separation ensures that even if one layer is compromised, the data remains secure in deep private subnets.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2221706"/>
            <a:ext cx="342900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36369" y="2185988"/>
            <a:ext cx="290750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Self-Healing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236369" y="2536031"/>
            <a:ext cx="29075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monitoring and ASG recovery minimize downtime without requiring manual intervention.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3436144"/>
            <a:ext cx="342900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21619" y="3400425"/>
            <a:ext cx="290750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21619" y="3750469"/>
            <a:ext cx="29075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footprint with 1 instance per tier, optimized for performance while keeping AWS costs low.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436144"/>
            <a:ext cx="342900" cy="3429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36369" y="3400425"/>
            <a:ext cx="290750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Rapid Recovery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5236369" y="3750469"/>
            <a:ext cx="29075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5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Golden AMIs enable the entire stack to be re-launched in minutes, ensuring business continuity.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644</Words>
  <Application>Microsoft Office PowerPoint</Application>
  <PresentationFormat>On-screen Show (16:9)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Montserrat Black</vt:lpstr>
      <vt:lpstr>Montserrat Bold</vt:lpstr>
      <vt:lpstr>Open Sans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Pruthvi Bhat(UST,IN)</cp:lastModifiedBy>
  <cp:revision>5</cp:revision>
  <dcterms:created xsi:type="dcterms:W3CDTF">2026-05-25T16:38:34Z</dcterms:created>
  <dcterms:modified xsi:type="dcterms:W3CDTF">2026-05-26T13:01:50Z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2026-05-26T04:43:41Z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26eb8634-9e01-4fdf-b575-07dd28b0968c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